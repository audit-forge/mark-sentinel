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560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70" kern="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ARCKON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0" y="256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10" kern="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SECURITY ASSESSMENT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437376"/>
            <a:ext cx="11201400" cy="0"/>
          </a:xfrm>
          <a:prstGeom prst="line">
            <a:avLst/>
          </a:prstGeom>
          <a:noFill/>
          <a:ln w="8890">
            <a:solidFill>
              <a:srgbClr val="445566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5379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RiskRaven  |  Technical customer overview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" y="731520"/>
            <a:ext cx="1847088" cy="283464"/>
          </a:xfrm>
          <a:prstGeom prst="roundRect">
            <a:avLst>
              <a:gd name="adj" fmla="val 38710"/>
            </a:avLst>
          </a:prstGeom>
          <a:solidFill>
            <a:srgbClr val="0D1627"/>
          </a:solidFill>
          <a:ln w="12700">
            <a:solidFill>
              <a:srgbClr val="0D16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76072" y="74980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 ASSESSMENT PLATFORM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1197864"/>
            <a:ext cx="6720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security assessments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explain the next step.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12064" y="2788920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Arckon inspects AI configuration, probes live model endpoints, and continuously tracks AI usage across a fleet — turning every gap into an evidence-backed finding, mapped to the controls you're actually held to.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34072" y="1051560"/>
            <a:ext cx="3968496" cy="4498848"/>
          </a:xfrm>
          <a:prstGeom prst="roundRect">
            <a:avLst>
              <a:gd name="adj" fmla="val 2765"/>
            </a:avLst>
          </a:prstGeom>
          <a:solidFill>
            <a:srgbClr val="0D1627"/>
          </a:solidFill>
          <a:ln w="12700">
            <a:solidFill>
              <a:srgbClr val="0D16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90688" y="1435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90688" y="1828800"/>
            <a:ext cx="30632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security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and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platform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AI applications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their teams.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90688" y="4187952"/>
            <a:ext cx="2834640" cy="0"/>
          </a:xfrm>
          <a:prstGeom prst="line">
            <a:avLst/>
          </a:prstGeom>
          <a:noFill/>
          <a:ln w="12700">
            <a:solidFill>
              <a:srgbClr val="44556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90688" y="4425696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support engineering, security, governance, and the MSP/SMB teams that rely on them.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12064" y="4590288"/>
            <a:ext cx="1627632" cy="283464"/>
          </a:xfrm>
          <a:prstGeom prst="roundRect">
            <a:avLst>
              <a:gd name="adj" fmla="val 38710"/>
            </a:avLst>
          </a:prstGeom>
          <a:solidFill>
            <a:srgbClr val="0D1627"/>
          </a:solidFill>
          <a:ln w="12700">
            <a:solidFill>
              <a:srgbClr val="0D16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2648" y="4608576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4AD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 REVIEW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67712" y="4590288"/>
            <a:ext cx="1389888" cy="283464"/>
          </a:xfrm>
          <a:prstGeom prst="roundRect">
            <a:avLst>
              <a:gd name="adj" fmla="val 38710"/>
            </a:avLst>
          </a:prstGeom>
          <a:solidFill>
            <a:srgbClr val="0D1627"/>
          </a:solidFill>
          <a:ln w="12700">
            <a:solidFill>
              <a:srgbClr val="0D16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368296" y="4608576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PROBES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85616" y="4590288"/>
            <a:ext cx="1490472" cy="283464"/>
          </a:xfrm>
          <a:prstGeom prst="roundRect">
            <a:avLst>
              <a:gd name="adj" fmla="val 38710"/>
            </a:avLst>
          </a:prstGeom>
          <a:solidFill>
            <a:srgbClr val="0D1627"/>
          </a:solidFill>
          <a:ln w="12700">
            <a:solidFill>
              <a:srgbClr val="0D16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886200" y="4608576"/>
            <a:ext cx="1289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ARTIFACTS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560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70" kern="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ARCKON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0" y="256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10" kern="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WORKFLOW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437376"/>
            <a:ext cx="11201400" cy="0"/>
          </a:xfrm>
          <a:prstGeom prst="line">
            <a:avLst/>
          </a:prstGeom>
          <a:noFill/>
          <a:ln w="8890">
            <a:solidFill>
              <a:srgbClr val="445566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5379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RiskRaven  |  Technical customer overview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assessment path, three evidence sources.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5488" y="134416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only the modes that fit the deployment under review.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3246120" cy="2423160"/>
          </a:xfrm>
          <a:prstGeom prst="roundRect">
            <a:avLst>
              <a:gd name="adj" fmla="val 4528"/>
            </a:avLst>
          </a:prstGeom>
          <a:solidFill>
            <a:srgbClr val="0F1A2E"/>
          </a:solidFill>
          <a:ln w="12700">
            <a:solidFill>
              <a:srgbClr val="0F1A2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" y="24963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41248" y="3529584"/>
            <a:ext cx="2587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source, configuration, policy, deployment, Docker, and Kubernetes signals.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77056" y="3163824"/>
            <a:ext cx="292608" cy="438912"/>
          </a:xfrm>
          <a:prstGeom prst="chevron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361688" y="2212848"/>
            <a:ext cx="3246120" cy="2423160"/>
          </a:xfrm>
          <a:prstGeom prst="roundRect">
            <a:avLst>
              <a:gd name="adj" fmla="val 4528"/>
            </a:avLst>
          </a:prstGeom>
          <a:solidFill>
            <a:srgbClr val="0F1A2E"/>
          </a:solidFill>
          <a:ln w="12700">
            <a:solidFill>
              <a:srgbClr val="0F1A2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36008" y="24963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36008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636008" y="3529584"/>
            <a:ext cx="2587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tests against supported model APIs, including prompt injection and PII canaries.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71816" y="3163824"/>
            <a:ext cx="292608" cy="438912"/>
          </a:xfrm>
          <a:prstGeom prst="chevron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156448" y="2212848"/>
            <a:ext cx="3246120" cy="2423160"/>
          </a:xfrm>
          <a:prstGeom prst="roundRect">
            <a:avLst>
              <a:gd name="adj" fmla="val 4528"/>
            </a:avLst>
          </a:prstGeom>
          <a:solidFill>
            <a:srgbClr val="0F1A2E"/>
          </a:solidFill>
          <a:ln w="12700">
            <a:solidFill>
              <a:srgbClr val="0F1A2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430768" y="24963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30768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430768" y="3529584"/>
            <a:ext cx="2587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findings with plain-language context and machine-readable outputs.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" y="5166360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endpoint modes include OpenAI-compatible APIs, Ollama, Gemini, Vertex AI, Anthropic, and a local hash mode.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560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70" kern="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ARCKON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0" y="256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10" kern="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SCOPE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437376"/>
            <a:ext cx="11201400" cy="0"/>
          </a:xfrm>
          <a:prstGeom prst="line">
            <a:avLst/>
          </a:prstGeom>
          <a:noFill/>
          <a:ln w="8890">
            <a:solidFill>
              <a:srgbClr val="445566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5379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RiskRaven  |  Technical customer overview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Arckon evaluates.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5488" y="134416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reflects observed configuration signals and controlled test outcomes, not a blanket security guarantee.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21208" y="2148840"/>
            <a:ext cx="3310128" cy="3337560"/>
          </a:xfrm>
          <a:prstGeom prst="roundRect">
            <a:avLst>
              <a:gd name="adj" fmla="val 3315"/>
            </a:avLst>
          </a:prstGeom>
          <a:solidFill>
            <a:srgbClr val="0D1627"/>
          </a:solidFill>
          <a:ln w="12700">
            <a:solidFill>
              <a:srgbClr val="0D16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45059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&amp; SUPPLY CHAIN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5528" y="311810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96696" y="299923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and hardcoded credentials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795528" y="3630168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96696" y="3511296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Authentication, TLS, rate-limit signals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795528" y="4142232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96696" y="402336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provenance and dependency pinning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4343400" y="2148840"/>
            <a:ext cx="3310128" cy="3337560"/>
          </a:xfrm>
          <a:prstGeom prst="roundRect">
            <a:avLst>
              <a:gd name="adj" fmla="val 3315"/>
            </a:avLst>
          </a:prstGeom>
          <a:solidFill>
            <a:srgbClr val="0D1627"/>
          </a:solidFill>
          <a:ln w="12700">
            <a:solidFill>
              <a:srgbClr val="0D16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99432" y="245059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&amp; AGENT BEHAVIOUR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311810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18888" y="299923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 and jailbreak probes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4617720" y="3630168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18888" y="3511296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disclosure and PII canaries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4617720" y="4142232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18888" y="402336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permissions, confirmation, tool controls</a:t>
            </a:r>
            <a:endParaRPr lang="en-US" sz="1270" dirty="0"/>
          </a:p>
        </p:txBody>
      </p:sp>
      <p:sp>
        <p:nvSpPr>
          <p:cNvPr id="26" name="Shape 24"/>
          <p:cNvSpPr/>
          <p:nvPr/>
        </p:nvSpPr>
        <p:spPr>
          <a:xfrm>
            <a:off x="8165592" y="2148840"/>
            <a:ext cx="3310128" cy="3337560"/>
          </a:xfrm>
          <a:prstGeom prst="roundRect">
            <a:avLst>
              <a:gd name="adj" fmla="val 3315"/>
            </a:avLst>
          </a:prstGeom>
          <a:solidFill>
            <a:srgbClr val="0D1627"/>
          </a:solidFill>
          <a:ln w="12700">
            <a:solidFill>
              <a:srgbClr val="0D16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21624" y="245059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4AD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&amp; OPERATIONS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439912" y="311810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641080" y="299923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Logging, retention, inventory signals</a:t>
            </a:r>
            <a:endParaRPr lang="en-US" sz="1270" dirty="0"/>
          </a:p>
        </p:txBody>
      </p:sp>
      <p:sp>
        <p:nvSpPr>
          <p:cNvPr id="30" name="Shape 28"/>
          <p:cNvSpPr/>
          <p:nvPr/>
        </p:nvSpPr>
        <p:spPr>
          <a:xfrm>
            <a:off x="8439912" y="3630168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641080" y="3511296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Policy, incident-response, oversight evidence</a:t>
            </a:r>
            <a:endParaRPr lang="en-US" sz="1270" dirty="0"/>
          </a:p>
        </p:txBody>
      </p:sp>
      <p:sp>
        <p:nvSpPr>
          <p:cNvPr id="32" name="Shape 30"/>
          <p:cNvSpPr/>
          <p:nvPr/>
        </p:nvSpPr>
        <p:spPr>
          <a:xfrm>
            <a:off x="8439912" y="4142232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641080" y="402336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and Kubernetes posture checks</a:t>
            </a:r>
            <a:endParaRPr lang="en-US" sz="12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560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70" kern="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ARCKON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0" y="256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10" kern="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AND DATA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437376"/>
            <a:ext cx="11201400" cy="0"/>
          </a:xfrm>
          <a:prstGeom prst="line">
            <a:avLst/>
          </a:prstGeom>
          <a:noFill/>
          <a:ln w="8890">
            <a:solidFill>
              <a:srgbClr val="445566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5379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RiskRaven  |  Technical customer overview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workflow that scales to MSPs.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5488" y="134416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Arckon for a single SMB environment, or roll multiple client organizations into one MSP dashboard.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76072" y="2148840"/>
            <a:ext cx="3657600" cy="2971800"/>
          </a:xfrm>
          <a:prstGeom prst="roundRect">
            <a:avLst>
              <a:gd name="adj" fmla="val 3692"/>
            </a:avLst>
          </a:prstGeom>
          <a:solidFill>
            <a:srgbClr val="0F1A2E"/>
          </a:solidFill>
          <a:ln w="12700">
            <a:solidFill>
              <a:srgbClr val="0F1A2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4AD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SCOPE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953512"/>
            <a:ext cx="27614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AI application, endpoint, or environment to assess.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68680" y="389534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Assessments are scoped to the systems and evidence selected for review.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99432" y="2148840"/>
            <a:ext cx="2907792" cy="2971800"/>
          </a:xfrm>
          <a:prstGeom prst="roundRect">
            <a:avLst>
              <a:gd name="adj" fmla="val 3774"/>
            </a:avLst>
          </a:prstGeom>
          <a:solidFill>
            <a:srgbClr val="0D1627"/>
          </a:solidFill>
          <a:ln w="12700">
            <a:solidFill>
              <a:srgbClr val="0D16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92040" y="24688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AGENT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9535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 scans, discovery, and Shadow AI detection.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92040" y="3895344"/>
            <a:ext cx="2066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reports scan results, device metadata, and unapproved AI tools it discovers.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82128" y="2148840"/>
            <a:ext cx="3730752" cy="2971800"/>
          </a:xfrm>
          <a:prstGeom prst="roundRect">
            <a:avLst>
              <a:gd name="adj" fmla="val 3692"/>
            </a:avLst>
          </a:prstGeom>
          <a:solidFill>
            <a:srgbClr val="0F1A2E"/>
          </a:solidFill>
          <a:ln w="12700">
            <a:solidFill>
              <a:srgbClr val="0F1A2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174736" y="2468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MSP &amp; FLEET VIEW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74736" y="295351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Fleet reports, AI-BOM inventory, and white-labeled client rollups.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74736" y="3867912"/>
            <a:ext cx="2852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MSPs get one rollup dashboard across every client, with white-label reports and per-client evidence retention.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560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70" kern="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ARCKON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0" y="256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10" kern="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&amp; COMPLIANCE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437376"/>
            <a:ext cx="11201400" cy="0"/>
          </a:xfrm>
          <a:prstGeom prst="line">
            <a:avLst/>
          </a:prstGeom>
          <a:noFill/>
          <a:ln w="8890">
            <a:solidFill>
              <a:srgbClr val="445566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5379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RiskRaven  |  Technical customer overview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 mapped to the controls that matter.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5488" y="134416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Arckon before release, after material AI changes, or as a recurring assessment input.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2148840"/>
            <a:ext cx="10927080" cy="758952"/>
          </a:xfrm>
          <a:prstGeom prst="roundRect">
            <a:avLst>
              <a:gd name="adj" fmla="val 14458"/>
            </a:avLst>
          </a:prstGeom>
          <a:solidFill>
            <a:srgbClr val="0D1627"/>
          </a:solidFill>
          <a:ln w="12700">
            <a:solidFill>
              <a:srgbClr val="0D16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23134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2258568"/>
            <a:ext cx="7973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and SARIF outputs for review and CI-adjacent workflows.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94360" y="3209544"/>
            <a:ext cx="10927080" cy="758952"/>
          </a:xfrm>
          <a:prstGeom prst="roundRect">
            <a:avLst>
              <a:gd name="adj" fmla="val 14458"/>
            </a:avLst>
          </a:prstGeom>
          <a:solidFill>
            <a:srgbClr val="0F1A2E"/>
          </a:solidFill>
          <a:ln w="12700">
            <a:solidFill>
              <a:srgbClr val="0F1A2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37413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OPERATIONS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3319272"/>
            <a:ext cx="7973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DefectDojo and configured SIEM forwarding.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94360" y="4270248"/>
            <a:ext cx="10927080" cy="758952"/>
          </a:xfrm>
          <a:prstGeom prst="roundRect">
            <a:avLst>
              <a:gd name="adj" fmla="val 14458"/>
            </a:avLst>
          </a:prstGeom>
          <a:solidFill>
            <a:srgbClr val="0D1627"/>
          </a:solidFill>
          <a:ln w="12700">
            <a:solidFill>
              <a:srgbClr val="0D16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4348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4AD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4379976"/>
            <a:ext cx="7973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 AI Act readiness reporting — mapped article-by-article — plus PDF, plain-language, and framework-mapped evidence for every other profile.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" y="5596128"/>
            <a:ext cx="10716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 AI Act obligations begin 2 Aug 2026 — Arckon maps findings to specific articles now. Also covers ISO 42001, MITRE ATLAS, CMMC, FedRAMP, and sector profiles.</a:t>
            </a:r>
            <a:endParaRPr lang="en-US" sz="11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560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70" kern="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ARCKON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0" y="256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10" kern="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BOUNDARIES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437376"/>
            <a:ext cx="11201400" cy="0"/>
          </a:xfrm>
          <a:prstGeom prst="line">
            <a:avLst/>
          </a:prstGeom>
          <a:noFill/>
          <a:ln w="8890">
            <a:solidFill>
              <a:srgbClr val="445566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65379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RiskRaven  |  Technical customer overview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evidence, with clear boundaries.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5488" y="134416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9BA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Precise scope is part of a defensible AI security program.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2121408"/>
            <a:ext cx="5257800" cy="3273552"/>
          </a:xfrm>
          <a:prstGeom prst="roundRect">
            <a:avLst>
              <a:gd name="adj" fmla="val 3352"/>
            </a:avLst>
          </a:prstGeom>
          <a:solidFill>
            <a:srgbClr val="0D1627"/>
          </a:solidFill>
          <a:ln w="12700">
            <a:solidFill>
              <a:srgbClr val="0D16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441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4AD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ARCKON DOES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07238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15568" y="29535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a defined application, endpoint, or environment.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584448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15568" y="34655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controlled probes and inspect configuration evidence.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096512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115568" y="3977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findings for customer operators to prioritize and remediate.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6208" y="2121408"/>
            <a:ext cx="5257800" cy="3273552"/>
          </a:xfrm>
          <a:prstGeom prst="roundRect">
            <a:avLst>
              <a:gd name="adj" fmla="val 3352"/>
            </a:avLst>
          </a:prstGeom>
          <a:solidFill>
            <a:srgbClr val="0F1A2E"/>
          </a:solidFill>
          <a:ln w="12700">
            <a:solidFill>
              <a:srgbClr val="0F1A2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56248" y="24414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ARCKON DOES NOT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56248" y="307238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757416" y="29535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Intercept or block live traffic, attacks, or data movement.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56248" y="3584448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757416" y="34655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architecture review, operating controls, or human decisions.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56248" y="4096512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757416" y="3977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Certify compliance, authorization, or regulatory conformance.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57332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fit: MSPs and SMBs that need a repeatable AI risk baseline — including EU AI Act readiness — while keeping full control of remediation.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RiskRaven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Arckon: AI Security Assessment</dc:title>
  <dc:subject>Arckon customer overview</dc:subject>
  <dc:creator>RiskRaven</dc:creator>
  <cp:lastModifiedBy>RiskRaven</cp:lastModifiedBy>
  <cp:revision>1</cp:revision>
  <dcterms:created xsi:type="dcterms:W3CDTF">2026-07-18T22:45:34Z</dcterms:created>
  <dcterms:modified xsi:type="dcterms:W3CDTF">2026-07-18T22:45:34Z</dcterms:modified>
</cp:coreProperties>
</file>